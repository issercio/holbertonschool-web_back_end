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C628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olbert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7432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FloraShop — Pivoine &amp; Lilas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F5E0E8"/>
                </a:solidFill>
              </a:defRPr>
            </a:pPr>
            <a:r>
              <a:t>Application e-commerce pour artisan fleuriste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1094415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FFFFFF"/>
                </a:solidFill>
              </a:defRPr>
            </a:pPr>
            <a:r>
              <a:t>Jaille Dimitri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FFFFFF"/>
                </a:solidFill>
              </a:defRPr>
            </a:pPr>
            <a:r>
              <a:t>Co-développeur : Mattieu Mourroux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FFFFFF"/>
                </a:solidFill>
              </a:defRPr>
            </a:pPr>
            <a:r>
              <a:t>Titre visé : Développeur Web et Web Mobile (DWWM)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FFFFFF"/>
                </a:solidFill>
              </a:defRPr>
            </a:pPr>
            <a:r>
              <a:t>RNCP Niveau 5 — Code RNCP 37674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FFFFFF"/>
                </a:solidFill>
              </a:defRPr>
            </a:pPr>
            <a:r>
              <a:t>Holberton School — Session 2025-2026 — Mars 2026</a:t>
            </a:r>
          </a:p>
        </p:txBody>
      </p:sp>
      <p:pic>
        <p:nvPicPr>
          <p:cNvPr id="7" name="Picture 6" descr="accueil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0"/>
            <a:ext cx="3931920" cy="2211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231111"/>
                </a:solidFill>
              </a:defRPr>
            </a:pPr>
            <a:r>
              <a:t>1.  Contexte du projet et cahier des charges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231111"/>
                </a:solidFill>
              </a:defRPr>
            </a:pPr>
            <a:r>
              <a:t>2.  Stack technique et environnement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231111"/>
                </a:solidFill>
              </a:defRPr>
            </a:pPr>
            <a:r>
              <a:t>3.  Architecture de l'application (3-tiers)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231111"/>
                </a:solidFill>
              </a:defRPr>
            </a:pPr>
            <a:r>
              <a:t>4.  Front-end : interfaces statiques et dynamiques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231111"/>
                </a:solidFill>
              </a:defRPr>
            </a:pPr>
            <a:r>
              <a:t>5.  Back-end : base de données (MCD, MLD, SQL, ORM)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231111"/>
                </a:solidFill>
              </a:defRPr>
            </a:pPr>
            <a:r>
              <a:t>6.  Back-end : API REST et composants métier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231111"/>
                </a:solidFill>
              </a:defRPr>
            </a:pPr>
            <a:r>
              <a:t>7.  Sécurité de l'application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231111"/>
                </a:solidFill>
              </a:defRPr>
            </a:pPr>
            <a:r>
              <a:t>8.  Démonstration et jeu d'essai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231111"/>
                </a:solidFill>
              </a:defRPr>
            </a:pPr>
            <a:r>
              <a:t>9.  Difficultés rencontrées et enseignements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231111"/>
                </a:solidFill>
              </a:defRPr>
            </a:pPr>
            <a:r>
              <a:t>10. Conclusion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1. Contexte du projet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31111"/>
                </a:solidFill>
              </a:defRPr>
            </a:pPr>
            <a:r>
              <a:t>Commanditaire : Pivoine &amp; Lilas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31111"/>
                </a:solidFill>
              </a:defRPr>
            </a:pPr>
            <a:r>
              <a:t>→ Artisan fleuriste, gérée par la mère de Mattieu Mourroux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31111"/>
                </a:solidFill>
              </a:defRPr>
            </a:pPr>
            <a:r>
              <a:t>Objectif : concevoir une boutique en ligne complète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31111"/>
                </a:solidFill>
              </a:defRPr>
            </a:pPr>
            <a:r>
              <a:t>→ Vente de fleurs, compositions, vases, parfums, cadeaux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31111"/>
                </a:solidFill>
              </a:defRPr>
            </a:pPr>
            <a:r>
              <a:t>→ Paiement sécurisé en ligne (Stripe)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31111"/>
                </a:solidFill>
              </a:defRPr>
            </a:pPr>
            <a:r>
              <a:t>→ Administration : produits, catégories, utilisateurs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31111"/>
                </a:solidFill>
              </a:defRPr>
            </a:pPr>
            <a:r>
              <a:t>Type : Projet en entreprise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31111"/>
                </a:solidFill>
              </a:defRPr>
            </a:pPr>
            <a:r>
              <a:t>Formation : DWWM — Holberton School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31111"/>
                </a:solidFill>
              </a:defRPr>
            </a:pPr>
            <a:r>
              <a:t>Équipe 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31111"/>
                </a:solidFill>
              </a:defRPr>
            </a:pPr>
            <a:r>
              <a:t>• Jaille Dimitri — Développeur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31111"/>
                </a:solidFill>
              </a:defRPr>
            </a:pPr>
            <a:r>
              <a:t>• Mattieu Mourroux — Co-développeur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Cahier des charges — Besoins fonctionnels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Catalogue produits par catégories (7) avec filtres et recherche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Panier d'achat dynamique (ajout, suppression, calcul total)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Paiement en ligne sécurisé via Stripe (EUR)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Gestion des comptes utilisateurs (inscription, connexion, JWT)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Tableau d'administration CRUD (produits, catégories, utilisateurs)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API REST documentée via Swagger UI (Flask-RESTX)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Pages vitrine : accueil, portfolio, événementiel, entreprises, contact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Abonnement floral avec paiement récurrent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Besoins non-fonctionnels 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Interface responsive (desktop, tablette, mobile)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Sécurité : hashage, JWT, validation des entrées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Architecture MVC, pattern Repository, code documenté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2. Stack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Front-end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HTML5, CSS3 (charte vintage #bc6288), JS vanilla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Jinja2, Stripe.js v3, Google reCAPTCHA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16 pages HTML, 4 fichiers CSS (932 lignes)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Back-end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Python 3.10, Flask 3.1.0, Flask-RESTX 1.3.0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Flask-SQLAlchemy 3.1.1, Flask-Migrate 4.1.0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PyJWT, Werkzeug, Flask-CORS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Base de données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PostgreSQL — 7 tables, ORM SQLAlchemy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Paiement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Stripe API (Payment Intents + Webhooks)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Outils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Git / GitHub, python-dotenv,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3. Architecture 3-tiers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5943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1111"/>
                </a:solidFill>
              </a:defRPr>
            </a:pPr>
            <a:r>
              <a:t>┌──────────────────────────────────────┐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1111"/>
                </a:solidFill>
              </a:defRPr>
            </a:pPr>
            <a:r>
              <a:t>│  NAVIGATEUR (Présentation)           │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1111"/>
                </a:solidFill>
              </a:defRPr>
            </a:pPr>
            <a:r>
              <a:t>│  HTML5 / CSS3 / JS / Stripe.js       │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1111"/>
                </a:solidFill>
              </a:defRPr>
            </a:pPr>
            <a:r>
              <a:t>└───────────────┬──────────────────────┘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1111"/>
                </a:solidFill>
              </a:defRPr>
            </a:pPr>
            <a:r>
              <a:t>                │ HTTP / JSON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1111"/>
                </a:solidFill>
              </a:defRPr>
            </a:pPr>
            <a:r>
              <a:t>┌───────────────▼──────────────────────┐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1111"/>
                </a:solidFill>
              </a:defRPr>
            </a:pPr>
            <a:r>
              <a:t>│  SERVEUR FLASK (Logique métier)      │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1111"/>
                </a:solidFill>
              </a:defRPr>
            </a:pPr>
            <a:r>
              <a:t>│  Routes → Services → Repositories    │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1111"/>
                </a:solidFill>
              </a:defRPr>
            </a:pPr>
            <a:r>
              <a:t>│  Flask-RESTX │ Facade │ StripeService │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1111"/>
                </a:solidFill>
              </a:defRPr>
            </a:pPr>
            <a:r>
              <a:t>│  Auth JWT │ Swagger │ Factory         │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1111"/>
                </a:solidFill>
              </a:defRPr>
            </a:pPr>
            <a:r>
              <a:t>└───────────────┬──────────────────────┘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1111"/>
                </a:solidFill>
              </a:defRPr>
            </a:pPr>
            <a:r>
              <a:t>                │ SQL (psycopg2)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1111"/>
                </a:solidFill>
              </a:defRPr>
            </a:pPr>
            <a:r>
              <a:t>┌───────────────▼──────────────────────┐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1111"/>
                </a:solidFill>
              </a:defRPr>
            </a:pPr>
            <a:r>
              <a:t>│  POSTGRESQL (Données)                │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1111"/>
                </a:solidFill>
              </a:defRPr>
            </a:pPr>
            <a:r>
              <a:t>│  7 tables — ORM SQLAlchemy           │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1111"/>
                </a:solidFill>
              </a:defRPr>
            </a:pPr>
            <a:r>
              <a:t>└──────────────────────────────────────┘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188720"/>
            <a:ext cx="3657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AB597C"/>
                </a:solidFill>
              </a:defRPr>
            </a:pPr>
            <a:r>
              <a:t>Design Patterns 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AB597C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AB597C"/>
                </a:solidFill>
              </a:defRPr>
            </a:pPr>
            <a:r>
              <a:t>• MVC (Model-View-Controller)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AB597C"/>
                </a:solidFill>
              </a:defRPr>
            </a:pPr>
            <a:r>
              <a:t>• Repository (accès aux données)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AB597C"/>
                </a:solidFill>
              </a:defRPr>
            </a:pPr>
            <a:r>
              <a:t>• Facade (point d'accès unique)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AB597C"/>
                </a:solidFill>
              </a:defRPr>
            </a:pPr>
            <a:r>
              <a:t>• Factory (create_app())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Compétences DWWM couvertes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AT1 — Front-end sécurisé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✅ CP1 — Maquetter des interfaces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    12 maquettes, design responsive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✅ CP2 — Interfaces statiques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    16 templates HTML5/CSS3, charte vintage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✅ CP3 — Interfaces dynamiques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    JS vanilla (api.js, auth.js), panier, Stripe.js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AT2 — Back-end sécurisé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✅ CP4 — Base de données relationnelle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    PostgreSQL, 7 tables, 6 migrations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✅ CP5 — Composants d'accès aux données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    Pattern Repository, ORM SQLAlchemy, Facade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✅ CP6 — Composants métier serveur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    REST API Swagger, StripeService, JWT, rôles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4. Front-end — Pages principales (desktop)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AB597C"/>
                </a:solidFill>
              </a:defRPr>
            </a:pPr>
            <a:r>
              <a:t>Accueil</a:t>
            </a:r>
          </a:p>
        </p:txBody>
      </p:sp>
      <p:pic>
        <p:nvPicPr>
          <p:cNvPr id="5" name="Picture 4" descr="accueil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2743200" cy="1543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0" y="914400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AB597C"/>
                </a:solidFill>
              </a:defRPr>
            </a:pPr>
            <a:r>
              <a:t>Boutique</a:t>
            </a:r>
          </a:p>
        </p:txBody>
      </p:sp>
      <p:pic>
        <p:nvPicPr>
          <p:cNvPr id="7" name="Picture 6" descr="boutique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280160"/>
            <a:ext cx="2743200" cy="30586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914400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AB597C"/>
                </a:solidFill>
              </a:defRPr>
            </a:pPr>
            <a:r>
              <a:t>Panier</a:t>
            </a:r>
          </a:p>
        </p:txBody>
      </p:sp>
      <p:pic>
        <p:nvPicPr>
          <p:cNvPr id="9" name="Picture 8" descr="panier_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280160"/>
            <a:ext cx="2743200" cy="1543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2560" y="914400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AB597C"/>
                </a:solidFill>
              </a:defRPr>
            </a:pPr>
            <a:r>
              <a:t>Checkout</a:t>
            </a:r>
          </a:p>
        </p:txBody>
      </p:sp>
      <p:pic>
        <p:nvPicPr>
          <p:cNvPr id="11" name="Picture 10" descr="checkout_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280160"/>
            <a:ext cx="274320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Front-end — Version mobile (responsive)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AB597C"/>
                </a:solidFill>
              </a:defRPr>
            </a:pPr>
            <a:r>
              <a:t>Accueil</a:t>
            </a:r>
          </a:p>
        </p:txBody>
      </p:sp>
      <p:pic>
        <p:nvPicPr>
          <p:cNvPr id="5" name="Picture 4" descr="accueil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210891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6160" y="91440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AB597C"/>
                </a:solidFill>
              </a:defRPr>
            </a:pPr>
            <a:r>
              <a:t>Boutique</a:t>
            </a:r>
          </a:p>
        </p:txBody>
      </p:sp>
      <p:pic>
        <p:nvPicPr>
          <p:cNvPr id="7" name="Picture 6" descr="boutique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280160"/>
            <a:ext cx="2108915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91440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AB597C"/>
                </a:solidFill>
              </a:defRPr>
            </a:pPr>
            <a:r>
              <a:t>Panier</a:t>
            </a:r>
          </a:p>
        </p:txBody>
      </p:sp>
      <p:pic>
        <p:nvPicPr>
          <p:cNvPr id="9" name="Picture 8" descr="panier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280160"/>
            <a:ext cx="2108915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235440" y="91440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AB597C"/>
                </a:solidFill>
              </a:defRPr>
            </a:pPr>
            <a:r>
              <a:t>Checkout</a:t>
            </a:r>
          </a:p>
        </p:txBody>
      </p:sp>
      <p:pic>
        <p:nvPicPr>
          <p:cNvPr id="11" name="Picture 10" descr="checkout_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280160"/>
            <a:ext cx="210891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Front-end — Charte graphique et responsive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Charte graphique — Variables CSS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:root {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  --vintage-bg: #fff6f2;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  --vintage-main: #bc6288;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  --vintage-text: #231111;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Polices : EB Garamond + Inter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Navigation fixe, bordure rose 2px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Responsive Design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&lt;meta viewport&gt; sur toutes les pages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Media query 900px : sidebar empilée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Media query 600px : grille 1 colonne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Navigation compacte sur mobile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Grille : auto-fill minmax(260px, 1fr)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Accessibilité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Attributs alt sur les images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Contrastes suffisants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Labels, required, type=email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Front-end — Partie dynamique (JavaScript)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ApiService (api.js — 261 lignes)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Appels API REST (fetch + async/await)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Token JWT dans localStorage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Header Authorization: Bearer auto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login(), register(), logout(), getProducts()…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Panier (panier.html)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Stockage localStorage (JSON)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renderCart() : reconstruction DOM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updateCartCount() : badge temps réel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Stripe.js v3 (checkout.html)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Stripe Elements : iframe sécurisé (PCI DSS)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client_secret depuis le serveur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Données bancaires jamais sur notre serveur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5. Base de données — MCD Merise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7 entités, 6 associations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USERS ──(PASSER 0,N / 0,1)──→ ORDERS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USERS ──(RÉDIGER 0,N / 1,1)──→ REVIEWS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ORDERS ──(COMPOSER 1,N / 1,1)──→ ORDER_ITEMS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ORDER_ITEMS ──(RÉFÉRENCER 1,1 / 0,N)──→ PRODUCTS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CATEGORIES ──(CONTENIR 1,N / 1,1)──→ PRODUCTS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PRODUCTS ──(HISTORISER 0,N / 1,1)──→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097280"/>
            <a:ext cx="45720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Règles de gestion clés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RG1 : (username, email) unique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RG3 : Prix figé au moment de l'achat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RG4 : Suppression catégorie → cascade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RG6 : Historique prix (is_active)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RG7 : pending → paid | failed | cancelled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Base de données — SQL et ORM SQLAlchemy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7 tables PostgreSQL (SERIAL PK)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users        → id, username, email, password, is_admin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categories   → id, name, created_at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products     → id, name, price, category_id (FK), is_on_sale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orders       → id, user_id (FK NULL), email, total, stripe_id, status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order_items  → id, order_id (FK CASCADE), product_id, qty, price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reviews      → id, content, rating, user_id (FK)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prices       → id, amount, is_active, product_id (FK)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097280"/>
            <a:ext cx="45720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Correspondance SQL ↔ ORM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SERIAL → primary_key=True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REFERENCES → db.ForeignKey()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CASCADE → cascade='all, delete-orphan'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to_dict() exclut le password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6 migrations Alembic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6. API REST — Flask-RESTX et Swagger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943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Endpoints par namespace 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Auth       POST /auth/login, /auth/register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Products   GET / POST / PUT / DELETE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Categories GET / POST / PUT / DELETE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Users      GET / POST / PUT / DELETE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Reviews    GET / POST / PATCH / DELETE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Payments   POST /create-payment-intent, /confirm, /webhook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Doc auto-générée : localhost:5000/api/v1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Auth Bearer JWT dans Swagger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Factory pattern : create_app()</a:t>
            </a:r>
          </a:p>
        </p:txBody>
      </p:sp>
      <p:pic>
        <p:nvPicPr>
          <p:cNvPr id="5" name="Picture 4" descr="swagger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4846320" cy="27260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Composants métier côté serveur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Pattern Repository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CategoryRepo, ProductRepo, UserRepo, ReviewRepo, PriceRepo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CRUD : get_all, get_by_id, create, update, delete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Validation unicité, vérification ID, rollback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ORM → protection injection SQL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Pattern Facade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Point d'accès unique à tous les repositories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Simplifie l'utilisation depuis les routes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StripeService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Total calculé depuis les prix en BDD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Création Payment Intent + commande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Vérification webhook (signature crypto)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Gestion transactionnelle : flush → commit / rollback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7. Sécurité de l'application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Mesures implémentées ✅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Hashage mots de passe (Werkzeug)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Authentification JWT (PyJWT, exp. 1 jour)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CORS restrictif (localhost)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reCAPTCHA sur inscription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Validation entrées (champs, types, unicité)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ORM SQLAlchemy (anti-injection SQL)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Variables sensibles dans .env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Webhook Stripe signé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Cascade delete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Échappement Jinja2 (anti-XSS)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• to_dict() exclut le password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Veille sécurité — OWASP Top 10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Sources : OWASP, Flask Security,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Stripe Security, CVE Details, Snyk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12 failles identifiées 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F1 : MdP en clair (auth.py)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F2 : MdP admin hardcodé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F3 : Clé JWT hardcodée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F5 : DEBUG=True + 0.0.0.0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F6 : MdP exposé via GET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F7 : Endpoints sans auth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F8 : CORS trop permissif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F12 : Logs de MdP en clair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1111"/>
                </a:solidFill>
              </a:defRPr>
            </a:pPr>
            <a:r>
              <a:t>→ Corrections proposées dans le dossier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8. Jeu d'essai — Processus de commande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7 scénarios testés 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✅ Test 1 : GET /products → 200, 6 produits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✅ Test 2 : GET /categories → 200, 4 catégories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✅ Test 3 : POST /auth/login → 200, token JWT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⚠️  Test 4 : POST /create-payment-intent → timeout (clés test)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⚠️  Test 5 : POST /confirm-payment → dépend du test 4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✅ Test 6 : POST /categories → 201, ID auto-généré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✅ Test 7 : DELETE /categories/6 → 200, cascade OK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Résultat : 5/7 tests validés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2 tests attendus en échec (clés Stripe non configurées)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9. Difficultés et enseignements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Difficultés techniques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Intégration Stripe : Payment Intents, centimes, webhooks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  → Solution : StripeService dédié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Architecture Repository : séparation métier / données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  → Solution : Facade + flush/commit/rollback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Migrations Alembic : 6 versions, schéma en évolution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  → Rigueur dans le versioning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Enseignements tirés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Importance des design patterns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  (MVC, Repository, Facade)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La sécurité dès la conception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Intégration API tierces 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  idempotence, webhooks, erreurs async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Documentation automatisée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  (Swagger) toujours à jour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B597C"/>
                </a:solidFill>
              </a:defRPr>
            </a:pPr>
            <a:r>
              <a:t>10. Conclusion et perspectives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Jaille Dimitri — FloraShop | Pivoine &amp; Lilas — RNCP 5 DWWM — Holberton School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Bilan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Application e-commerce full-stack fonctionnelle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6 compétences DWWM couvertes (CP1 à CP6)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Architecture : MVC, Repository, Facade, Factory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Audit de sécurité avec analyse OWASP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Perspectives d'évolution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Déploiement : Gunicorn + Nginx, SSL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Sécurité : hashage systématique, rotation JWT,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  rate limiting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Fonctionnalités : emails, stocks, avis,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  analytics commerçant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Tests : pytest + coverage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1111"/>
                </a:solidFill>
              </a:defRPr>
            </a:pPr>
            <a:r>
              <a:t>• Performance : Redis, pagination, eager loading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C62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Merci de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94415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F5E0E8"/>
                </a:solidFill>
              </a:defRPr>
            </a:pPr>
            <a:r>
              <a:t>Questions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0"/>
            <a:ext cx="2743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1094415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FFFFFF"/>
                </a:solidFill>
              </a:defRPr>
            </a:pPr>
            <a:r>
              <a:t>Jaille Dimitri — Mattieu Mourroux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FFFFFF"/>
                </a:solidFill>
              </a:defRPr>
            </a:pPr>
            <a:r>
              <a:t>FloraShop — Pivoine &amp; Lilas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FFFFFF"/>
                </a:solidFill>
              </a:defRPr>
            </a:pPr>
            <a:r>
              <a:t>Holberton School — Session 2025-2026</a:t>
            </a:r>
          </a:p>
        </p:txBody>
      </p:sp>
      <p:pic>
        <p:nvPicPr>
          <p:cNvPr id="6" name="Picture 5" descr="holbert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